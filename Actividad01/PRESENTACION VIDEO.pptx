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5"/>
  </p:notesMasterIdLst>
  <p:sldIdLst>
    <p:sldId id="256" r:id="rId2"/>
    <p:sldId id="257" r:id="rId3"/>
    <p:sldId id="305" r:id="rId4"/>
    <p:sldId id="306" r:id="rId5"/>
    <p:sldId id="307" r:id="rId6"/>
    <p:sldId id="308" r:id="rId7"/>
    <p:sldId id="309" r:id="rId8"/>
    <p:sldId id="310" r:id="rId9"/>
    <p:sldId id="311" r:id="rId10"/>
    <p:sldId id="312" r:id="rId11"/>
    <p:sldId id="313" r:id="rId12"/>
    <p:sldId id="314" r:id="rId13"/>
    <p:sldId id="315" r:id="rId14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6"/>
      <p:bold r:id="rId17"/>
      <p:italic r:id="rId18"/>
      <p:boldItalic r:id="rId19"/>
    </p:embeddedFont>
    <p:embeddedFont>
      <p:font typeface="Montserrat ExtraBold" panose="00000900000000000000" pitchFamily="2" charset="0"/>
      <p:bold r:id="rId20"/>
      <p:boldItalic r:id="rId21"/>
    </p:embeddedFont>
    <p:embeddedFont>
      <p:font typeface="Montserrat ExtraLight" panose="000003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23113A7-8651-474F-8D84-1EFE8DAAC48B}">
  <a:tblStyle styleId="{523113A7-8651-474F-8D84-1EFE8DAAC48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A72F5978-49FD-F2ED-17EB-FFB739398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B4EADF4B-546D-53EB-1113-7BC9918FE8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9CD3C295-C81F-A34C-6FD3-E54CB20940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0939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AEE9A9F-417B-DA0C-5128-2BCC485D1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4BDEB6AB-D219-6081-3593-5B1D2B6A39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7480C9A4-CFC7-5731-238F-CB12CD0638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06699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4BD2DC0-7FCB-9997-2C57-8C47FD5CF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8DC268BA-CB2E-0793-C580-4FC88D3DA9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E94CD515-BAFE-900D-9FD6-4009D4E022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07155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66CE37C7-2DEA-1FFE-EBC4-27F00B9A2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CFC11E91-0C57-B959-E2E7-B53B6596C1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F4C5CE62-DC3F-7508-0C79-4A5D7CEC57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15259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70192D83-4DB5-F5F3-9A31-CB8956D2C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5D658744-67E1-9F6D-B7C2-AF7CD6D623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B0A4F4C0-34C0-D785-7161-634C9D358F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73578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D2A3CBBD-5C2C-A842-BE3D-5333EDB62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94304565-05D5-BAA6-6230-C0295E64C2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7360FC68-8266-0FB0-29D1-433728FB51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06154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824C56E7-23AB-E53D-56F8-FAA64F9D6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7D1F71A6-342D-CF14-94A8-D185701543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BD57F1ED-A98F-8C23-2081-5B4E524238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98153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551B426F-DDBF-17C4-9C62-219A092CA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672D0207-B9B7-DD78-F4E5-EF935725DC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B1C7E05E-539B-6B34-5D5C-9D29FC8A6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40583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2B7FAC45-37D4-4A06-EFB5-F9BCCA676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1DE241BF-93DD-8894-B900-ECB8B08AD2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06D666DA-C9F4-9BD0-7AC7-5E5C704172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93676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96797BFD-A852-AF5D-62F6-DED37B7DC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58039FD2-9ED0-CC89-8595-26AD9D0272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73862DB3-F9E1-C909-B5DC-D16A5AB53E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90966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8221CA02-474C-65B7-DA0A-C81BD216B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02F8F332-89BE-13DC-05B0-23EC253851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7ABD4910-6B8A-F248-F72B-69343E716B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5108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CAPTION_ONLY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1"/>
          </p:nvPr>
        </p:nvSpPr>
        <p:spPr>
          <a:xfrm>
            <a:off x="938500" y="1246025"/>
            <a:ext cx="7172100" cy="30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162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1pPr>
            <a:lvl2pPr marL="914400" lvl="1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2pPr>
            <a:lvl3pPr marL="1371600" lvl="2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3pPr>
            <a:lvl4pPr marL="1828800" lvl="3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4pPr>
            <a:lvl5pPr marL="2286000" lvl="4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5pPr>
            <a:lvl6pPr marL="2743200" lvl="5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6pPr>
            <a:lvl7pPr marL="3200400" lvl="6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7pPr>
            <a:lvl8pPr marL="3657600" lvl="7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8pPr>
            <a:lvl9pPr marL="4114800" lvl="8" indent="-301625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8" r:id="rId3"/>
    <p:sldLayoutId id="2147483659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8"/>
          <p:cNvSpPr txBox="1">
            <a:spLocks noGrp="1"/>
          </p:cNvSpPr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  <a:effectLst>
            <a:outerShdw blurRad="142875" dist="19050" dir="87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SISTEMAS</a:t>
            </a:r>
            <a:endParaRPr dirty="0"/>
          </a:p>
        </p:txBody>
      </p:sp>
      <p:sp>
        <p:nvSpPr>
          <p:cNvPr id="163" name="Google Shape;163;p38"/>
          <p:cNvSpPr txBox="1">
            <a:spLocks noGrp="1"/>
          </p:cNvSpPr>
          <p:nvPr>
            <p:ph type="subTitle" idx="1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BY BRIAN JESHUA CELIS PIMIENTA</a:t>
            </a:r>
            <a:endParaRPr dirty="0"/>
          </a:p>
        </p:txBody>
      </p:sp>
      <p:sp>
        <p:nvSpPr>
          <p:cNvPr id="164" name="Google Shape;164;p38"/>
          <p:cNvSpPr txBox="1">
            <a:spLocks noGrp="1"/>
          </p:cNvSpPr>
          <p:nvPr>
            <p:ph type="ctrTitle"/>
          </p:nvPr>
        </p:nvSpPr>
        <p:spPr>
          <a:xfrm>
            <a:off x="2941650" y="2624375"/>
            <a:ext cx="3260700" cy="464700"/>
          </a:xfrm>
          <a:prstGeom prst="rect">
            <a:avLst/>
          </a:prstGeom>
          <a:effectLst>
            <a:outerShdw blurRad="100013" dist="19050" dir="84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0" dirty="0">
                <a:latin typeface="Montserrat ExtraLight"/>
                <a:ea typeface="Montserrat ExtraLight"/>
                <a:cs typeface="Montserrat ExtraLight"/>
                <a:sym typeface="Montserrat ExtraLight"/>
              </a:rPr>
              <a:t>EXPERTOS</a:t>
            </a:r>
            <a:endParaRPr sz="2200" b="0" dirty="0">
              <a:latin typeface="Montserrat ExtraLight"/>
              <a:ea typeface="Montserrat ExtraLight"/>
              <a:cs typeface="Montserrat ExtraLight"/>
              <a:sym typeface="Montserrat ExtraLight"/>
            </a:endParaRPr>
          </a:p>
        </p:txBody>
      </p:sp>
      <p:cxnSp>
        <p:nvCxnSpPr>
          <p:cNvPr id="165" name="Google Shape;165;p38"/>
          <p:cNvCxnSpPr/>
          <p:nvPr/>
        </p:nvCxnSpPr>
        <p:spPr>
          <a:xfrm>
            <a:off x="3190500" y="256517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¿Qué es un Sistema Experto?</a:t>
            </a:r>
            <a:endParaRPr dirty="0"/>
          </a:p>
        </p:txBody>
      </p:sp>
      <p:sp>
        <p:nvSpPr>
          <p:cNvPr id="171" name="Google Shape;171;p39"/>
          <p:cNvSpPr txBox="1">
            <a:spLocks noGrp="1"/>
          </p:cNvSpPr>
          <p:nvPr>
            <p:ph type="body" idx="1"/>
          </p:nvPr>
        </p:nvSpPr>
        <p:spPr>
          <a:xfrm>
            <a:off x="938500" y="1291550"/>
            <a:ext cx="7172100" cy="30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dirty="0"/>
              <a:t>Un Sistema Experto es un programa de Inteligencia Artificial diseñado para resolver problemas complejos imitando el razonamiento y la toma de decisiones de un experto humano en un área específica.</a:t>
            </a:r>
          </a:p>
          <a:p>
            <a:r>
              <a:rPr lang="es-MX" dirty="0"/>
              <a:t>Su objetivo principal es ofrecer soluciones, diagnósticos o recomendaciones utilizando conocimientos previamente almacenados.</a:t>
            </a:r>
          </a:p>
          <a:p>
            <a:r>
              <a:rPr lang="es-MX" dirty="0"/>
              <a:t>Características</a:t>
            </a:r>
          </a:p>
          <a:p>
            <a:r>
              <a:rPr lang="es-MX" dirty="0"/>
              <a:t>Simula el razonamiento humano. </a:t>
            </a:r>
          </a:p>
          <a:p>
            <a:r>
              <a:rPr lang="es-MX" dirty="0"/>
              <a:t>Resuelve problemas especializados. </a:t>
            </a:r>
          </a:p>
          <a:p>
            <a:r>
              <a:rPr lang="es-MX" dirty="0"/>
              <a:t>Trabaja mediante reglas lógicas. </a:t>
            </a:r>
          </a:p>
          <a:p>
            <a:r>
              <a:rPr lang="es-MX" dirty="0"/>
              <a:t>Proporciona explicaciones de sus respuestas.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cxnSp>
        <p:nvCxnSpPr>
          <p:cNvPr id="172" name="Google Shape;172;p39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2D50764B-D3C8-C93B-4327-EDD2981A0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6FC5163C-9275-1657-2468-2FF5C6D4DA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¿Qué es el conocimiento?</a:t>
            </a:r>
            <a:endParaRPr dirty="0"/>
          </a:p>
        </p:txBody>
      </p:sp>
      <p:sp>
        <p:nvSpPr>
          <p:cNvPr id="171" name="Google Shape;171;p39">
            <a:extLst>
              <a:ext uri="{FF2B5EF4-FFF2-40B4-BE49-F238E27FC236}">
                <a16:creationId xmlns:a16="http://schemas.microsoft.com/office/drawing/2014/main" id="{EEA8462C-D410-F5CC-140C-DFE046305A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38500" y="1291550"/>
            <a:ext cx="7172100" cy="30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dirty="0"/>
              <a:t>El conocimiento es el conjunto de información, experiencias, hechos y reglas que una persona adquiere a lo largo del tiempo y utiliza para resolver problemas.</a:t>
            </a:r>
          </a:p>
          <a:p>
            <a:r>
              <a:rPr lang="es-MX" dirty="0"/>
              <a:t>Dentro de un sistema experto, este conocimiento proviene de especialistas humanos.</a:t>
            </a:r>
          </a:p>
          <a:p>
            <a:endParaRPr lang="es-MX" dirty="0"/>
          </a:p>
          <a:p>
            <a:r>
              <a:rPr lang="es-MX" b="1" dirty="0"/>
              <a:t>Tipos de conocimiento</a:t>
            </a:r>
          </a:p>
          <a:p>
            <a:r>
              <a:rPr lang="es-MX" dirty="0"/>
              <a:t>Declarativo </a:t>
            </a:r>
          </a:p>
          <a:p>
            <a:endParaRPr lang="es-MX" dirty="0"/>
          </a:p>
          <a:p>
            <a:pPr marL="155575" indent="0">
              <a:buNone/>
            </a:pPr>
            <a:r>
              <a:rPr lang="es-MX" dirty="0"/>
              <a:t>Hechos -Conceptos -Datos </a:t>
            </a:r>
          </a:p>
          <a:p>
            <a:pPr marL="155575" indent="0">
              <a:buNone/>
            </a:pPr>
            <a:endParaRPr lang="es-MX" dirty="0"/>
          </a:p>
          <a:p>
            <a:r>
              <a:rPr lang="es-MX" dirty="0"/>
              <a:t>Procedimental </a:t>
            </a:r>
          </a:p>
          <a:p>
            <a:endParaRPr lang="es-MX" dirty="0"/>
          </a:p>
          <a:p>
            <a:pPr marL="155575" indent="0">
              <a:buNone/>
            </a:pPr>
            <a:r>
              <a:rPr lang="es-MX" dirty="0"/>
              <a:t>Métodos -Procedimientos -Estrategias </a:t>
            </a:r>
          </a:p>
          <a:p>
            <a:pPr marL="155575" indent="0">
              <a:buNone/>
            </a:pPr>
            <a:endParaRPr lang="es-MX" dirty="0"/>
          </a:p>
          <a:p>
            <a:r>
              <a:rPr lang="es-MX" dirty="0"/>
              <a:t>Heurístico</a:t>
            </a:r>
          </a:p>
          <a:p>
            <a:endParaRPr lang="es-MX" dirty="0"/>
          </a:p>
          <a:p>
            <a:pPr marL="155575" indent="0">
              <a:buNone/>
            </a:pPr>
            <a:r>
              <a:rPr lang="es-MX" dirty="0"/>
              <a:t>Experiencia del experto -Reglas prácticas 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cxnSp>
        <p:nvCxnSpPr>
          <p:cNvPr id="172" name="Google Shape;172;p39">
            <a:extLst>
              <a:ext uri="{FF2B5EF4-FFF2-40B4-BE49-F238E27FC236}">
                <a16:creationId xmlns:a16="http://schemas.microsoft.com/office/drawing/2014/main" id="{15CCCC0C-F770-B0E6-5907-06EEEF6BAF03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2941426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64D6460C-CCF7-C570-0B5F-2BD1D358B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A8C52954-64B6-E2B5-26B6-9C3DDAA5D3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Motor de Inferencia</a:t>
            </a:r>
            <a:endParaRPr dirty="0"/>
          </a:p>
        </p:txBody>
      </p:sp>
      <p:sp>
        <p:nvSpPr>
          <p:cNvPr id="171" name="Google Shape;171;p39">
            <a:extLst>
              <a:ext uri="{FF2B5EF4-FFF2-40B4-BE49-F238E27FC236}">
                <a16:creationId xmlns:a16="http://schemas.microsoft.com/office/drawing/2014/main" id="{F92B61A4-E7A1-849F-9249-C5C1CC9A47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38500" y="1291550"/>
            <a:ext cx="7172100" cy="30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b="1" dirty="0"/>
              <a:t>Motor de Inferencia</a:t>
            </a:r>
          </a:p>
          <a:p>
            <a:pPr marL="155575" indent="0">
              <a:buNone/>
            </a:pPr>
            <a:r>
              <a:rPr lang="es-MX" dirty="0"/>
              <a:t>Es el "cerebro" del sistema experto.</a:t>
            </a:r>
          </a:p>
          <a:p>
            <a:pPr marL="155575" indent="0">
              <a:buNone/>
            </a:pPr>
            <a:r>
              <a:rPr lang="es-MX" dirty="0"/>
              <a:t>Su función consiste en analizar la información del usuario y compararla con la base de conocimiento para obtener una conclusión.</a:t>
            </a:r>
          </a:p>
          <a:p>
            <a:pPr marL="155575" indent="0">
              <a:buNone/>
            </a:pPr>
            <a:endParaRPr lang="es-MX" dirty="0"/>
          </a:p>
          <a:p>
            <a:pPr marL="155575" indent="0">
              <a:buNone/>
            </a:pPr>
            <a:r>
              <a:rPr lang="es-MX" b="1" dirty="0"/>
              <a:t>Funciones</a:t>
            </a:r>
          </a:p>
          <a:p>
            <a:r>
              <a:rPr lang="es-MX" dirty="0"/>
              <a:t>Analizar reglas. </a:t>
            </a:r>
          </a:p>
          <a:p>
            <a:r>
              <a:rPr lang="es-MX" dirty="0"/>
              <a:t>Comparar datos. </a:t>
            </a:r>
          </a:p>
          <a:p>
            <a:r>
              <a:rPr lang="es-MX" dirty="0"/>
              <a:t>Generar respuestas. </a:t>
            </a:r>
          </a:p>
          <a:p>
            <a:r>
              <a:rPr lang="es-MX" dirty="0"/>
              <a:t>Obtener conclusiones. </a:t>
            </a:r>
          </a:p>
          <a:p>
            <a:pPr marL="155575" indent="0">
              <a:buNone/>
            </a:pPr>
            <a:r>
              <a:rPr lang="es-MX" b="1" dirty="0"/>
              <a:t>Métodos</a:t>
            </a:r>
          </a:p>
          <a:p>
            <a:r>
              <a:rPr lang="es-MX" dirty="0"/>
              <a:t>• Encadenamiento hacia adelante (Forward </a:t>
            </a:r>
            <a:r>
              <a:rPr lang="es-MX" dirty="0" err="1"/>
              <a:t>Chaining</a:t>
            </a:r>
            <a:r>
              <a:rPr lang="es-MX" dirty="0"/>
              <a:t>)</a:t>
            </a:r>
          </a:p>
          <a:p>
            <a:r>
              <a:rPr lang="es-MX" dirty="0"/>
              <a:t>• Encadenamiento hacia atrás (</a:t>
            </a:r>
            <a:r>
              <a:rPr lang="es-MX" dirty="0" err="1"/>
              <a:t>Backward</a:t>
            </a:r>
            <a:r>
              <a:rPr lang="es-MX" dirty="0"/>
              <a:t> </a:t>
            </a:r>
            <a:r>
              <a:rPr lang="es-MX" dirty="0" err="1"/>
              <a:t>Chaining</a:t>
            </a:r>
            <a:r>
              <a:rPr lang="es-MX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cxnSp>
        <p:nvCxnSpPr>
          <p:cNvPr id="172" name="Google Shape;172;p39">
            <a:extLst>
              <a:ext uri="{FF2B5EF4-FFF2-40B4-BE49-F238E27FC236}">
                <a16:creationId xmlns:a16="http://schemas.microsoft.com/office/drawing/2014/main" id="{AD6EC525-61DD-CFBA-E8F1-F25B8FF6219C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1187595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1CC44436-25C4-8953-822E-C39B7BFCD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A4ADBCA4-309E-2D9B-C245-E18EC0C43B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b="1" dirty="0"/>
              <a:t>Funcionamiento de un Sistema Experto</a:t>
            </a:r>
          </a:p>
        </p:txBody>
      </p:sp>
      <p:sp>
        <p:nvSpPr>
          <p:cNvPr id="171" name="Google Shape;171;p39">
            <a:extLst>
              <a:ext uri="{FF2B5EF4-FFF2-40B4-BE49-F238E27FC236}">
                <a16:creationId xmlns:a16="http://schemas.microsoft.com/office/drawing/2014/main" id="{0D07B4BE-C53B-006A-AD34-33CE91BA71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38500" y="1291550"/>
            <a:ext cx="7172100" cy="35692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5575" indent="0">
              <a:buNone/>
            </a:pPr>
            <a:endParaRPr lang="es-MX" b="1" dirty="0"/>
          </a:p>
          <a:p>
            <a:r>
              <a:rPr lang="es-MX" dirty="0"/>
              <a:t>Usuario</a:t>
            </a:r>
          </a:p>
          <a:p>
            <a:r>
              <a:rPr lang="es-MX" dirty="0"/>
              <a:t>↓</a:t>
            </a:r>
          </a:p>
          <a:p>
            <a:r>
              <a:rPr lang="es-MX" dirty="0"/>
              <a:t>Introduce datos</a:t>
            </a:r>
          </a:p>
          <a:p>
            <a:r>
              <a:rPr lang="es-MX" dirty="0"/>
              <a:t>↓</a:t>
            </a:r>
          </a:p>
          <a:p>
            <a:r>
              <a:rPr lang="es-MX" dirty="0"/>
              <a:t>Motor de Inferencia</a:t>
            </a:r>
          </a:p>
          <a:p>
            <a:r>
              <a:rPr lang="es-MX" dirty="0"/>
              <a:t>↓</a:t>
            </a:r>
          </a:p>
          <a:p>
            <a:r>
              <a:rPr lang="es-MX" dirty="0"/>
              <a:t>Consulta</a:t>
            </a:r>
          </a:p>
          <a:p>
            <a:r>
              <a:rPr lang="es-MX" dirty="0"/>
              <a:t>↓</a:t>
            </a:r>
          </a:p>
          <a:p>
            <a:r>
              <a:rPr lang="es-MX" dirty="0"/>
              <a:t>Base de Conocimiento</a:t>
            </a:r>
          </a:p>
          <a:p>
            <a:r>
              <a:rPr lang="es-MX" dirty="0"/>
              <a:t>↓</a:t>
            </a:r>
          </a:p>
          <a:p>
            <a:r>
              <a:rPr lang="es-MX" dirty="0"/>
              <a:t>Obtiene reglas</a:t>
            </a:r>
          </a:p>
          <a:p>
            <a:r>
              <a:rPr lang="es-MX" dirty="0"/>
              <a:t>↓</a:t>
            </a:r>
          </a:p>
          <a:p>
            <a:r>
              <a:rPr lang="es-MX" dirty="0"/>
              <a:t>Respuesta</a:t>
            </a:r>
          </a:p>
          <a:p>
            <a:r>
              <a:rPr lang="es-MX" dirty="0"/>
              <a:t>↓</a:t>
            </a:r>
          </a:p>
          <a:p>
            <a:r>
              <a:rPr lang="es-MX" dirty="0"/>
              <a:t>Usuario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cxnSp>
        <p:nvCxnSpPr>
          <p:cNvPr id="172" name="Google Shape;172;p39">
            <a:extLst>
              <a:ext uri="{FF2B5EF4-FFF2-40B4-BE49-F238E27FC236}">
                <a16:creationId xmlns:a16="http://schemas.microsoft.com/office/drawing/2014/main" id="{E1A9077B-8BFA-0A84-51E7-E94E40A2F7FE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1652112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0CD673D2-C8BC-E7A4-10E0-7F6F6D65E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D095B723-7F2C-1BBB-A5F6-BAF62D81C7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b="1" dirty="0"/>
              <a:t>Funcionamiento de un Sistema Experto</a:t>
            </a:r>
          </a:p>
        </p:txBody>
      </p:sp>
      <p:sp>
        <p:nvSpPr>
          <p:cNvPr id="171" name="Google Shape;171;p39">
            <a:extLst>
              <a:ext uri="{FF2B5EF4-FFF2-40B4-BE49-F238E27FC236}">
                <a16:creationId xmlns:a16="http://schemas.microsoft.com/office/drawing/2014/main" id="{9C784199-D2A5-E92A-BDB7-5B45F7C3FD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38500" y="1291550"/>
            <a:ext cx="7172100" cy="35692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5575" indent="0">
              <a:buNone/>
            </a:pPr>
            <a:endParaRPr lang="es-MX" b="1" dirty="0"/>
          </a:p>
          <a:p>
            <a:r>
              <a:rPr lang="es-MX" dirty="0"/>
              <a:t>Usuario</a:t>
            </a:r>
          </a:p>
          <a:p>
            <a:r>
              <a:rPr lang="es-MX" dirty="0"/>
              <a:t>↓</a:t>
            </a:r>
          </a:p>
          <a:p>
            <a:r>
              <a:rPr lang="es-MX" dirty="0"/>
              <a:t>Introduce datos</a:t>
            </a:r>
          </a:p>
          <a:p>
            <a:r>
              <a:rPr lang="es-MX" dirty="0"/>
              <a:t>↓</a:t>
            </a:r>
          </a:p>
          <a:p>
            <a:r>
              <a:rPr lang="es-MX" dirty="0"/>
              <a:t>Motor de Inferencia</a:t>
            </a:r>
          </a:p>
          <a:p>
            <a:r>
              <a:rPr lang="es-MX" dirty="0"/>
              <a:t>↓</a:t>
            </a:r>
          </a:p>
          <a:p>
            <a:r>
              <a:rPr lang="es-MX" dirty="0"/>
              <a:t>Consulta</a:t>
            </a:r>
          </a:p>
          <a:p>
            <a:r>
              <a:rPr lang="es-MX" dirty="0"/>
              <a:t>↓</a:t>
            </a:r>
          </a:p>
          <a:p>
            <a:r>
              <a:rPr lang="es-MX" dirty="0"/>
              <a:t>Base de Conocimiento</a:t>
            </a:r>
          </a:p>
          <a:p>
            <a:r>
              <a:rPr lang="es-MX" dirty="0"/>
              <a:t>↓</a:t>
            </a:r>
          </a:p>
          <a:p>
            <a:r>
              <a:rPr lang="es-MX" dirty="0"/>
              <a:t>Obtiene reglas</a:t>
            </a:r>
          </a:p>
          <a:p>
            <a:r>
              <a:rPr lang="es-MX" dirty="0"/>
              <a:t>↓</a:t>
            </a:r>
          </a:p>
          <a:p>
            <a:r>
              <a:rPr lang="es-MX" dirty="0"/>
              <a:t>Respuesta</a:t>
            </a:r>
          </a:p>
          <a:p>
            <a:r>
              <a:rPr lang="es-MX" dirty="0"/>
              <a:t>↓</a:t>
            </a:r>
          </a:p>
          <a:p>
            <a:r>
              <a:rPr lang="es-MX" dirty="0"/>
              <a:t>Usuario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cxnSp>
        <p:nvCxnSpPr>
          <p:cNvPr id="172" name="Google Shape;172;p39">
            <a:extLst>
              <a:ext uri="{FF2B5EF4-FFF2-40B4-BE49-F238E27FC236}">
                <a16:creationId xmlns:a16="http://schemas.microsoft.com/office/drawing/2014/main" id="{65851E32-28A7-B20F-D3C6-42F51B38698B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625253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906547DA-0899-D2F6-D4AE-CB67E5671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F50190D2-1A71-C5AD-C107-10997A700F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dirty="0"/>
              <a:t>Línea del Tiempo</a:t>
            </a:r>
            <a:endParaRPr lang="es-MX" b="1" dirty="0"/>
          </a:p>
        </p:txBody>
      </p:sp>
      <p:sp>
        <p:nvSpPr>
          <p:cNvPr id="171" name="Google Shape;171;p39">
            <a:extLst>
              <a:ext uri="{FF2B5EF4-FFF2-40B4-BE49-F238E27FC236}">
                <a16:creationId xmlns:a16="http://schemas.microsoft.com/office/drawing/2014/main" id="{B5B73C7D-EA97-9585-4CFD-C427CFF483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38500" y="915725"/>
            <a:ext cx="7172100" cy="40687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b="1" dirty="0"/>
              <a:t>Evolución de los Sistemas Expertos</a:t>
            </a:r>
          </a:p>
          <a:p>
            <a:r>
              <a:rPr lang="es-MX" b="1" dirty="0"/>
              <a:t>1950</a:t>
            </a:r>
          </a:p>
          <a:p>
            <a:r>
              <a:rPr lang="es-MX" dirty="0"/>
              <a:t>Alan Turing propone la idea de máquinas inteligentes.</a:t>
            </a:r>
          </a:p>
          <a:p>
            <a:r>
              <a:rPr lang="es-MX" dirty="0"/>
              <a:t>↓</a:t>
            </a:r>
          </a:p>
          <a:p>
            <a:r>
              <a:rPr lang="es-MX" b="1" dirty="0"/>
              <a:t>1965</a:t>
            </a:r>
          </a:p>
          <a:p>
            <a:r>
              <a:rPr lang="es-MX" dirty="0"/>
              <a:t>Edward Feigenbaum inicia investigaciones sobre Sistemas Expertos.</a:t>
            </a:r>
          </a:p>
          <a:p>
            <a:r>
              <a:rPr lang="es-MX" dirty="0"/>
              <a:t>↓</a:t>
            </a:r>
          </a:p>
          <a:p>
            <a:r>
              <a:rPr lang="es-MX" b="1" dirty="0"/>
              <a:t>1972</a:t>
            </a:r>
          </a:p>
          <a:p>
            <a:r>
              <a:rPr lang="es-MX" dirty="0"/>
              <a:t>MYCIN</a:t>
            </a:r>
          </a:p>
          <a:p>
            <a:r>
              <a:rPr lang="es-MX" dirty="0"/>
              <a:t>Diagnóstico médico.</a:t>
            </a:r>
          </a:p>
          <a:p>
            <a:r>
              <a:rPr lang="es-MX" dirty="0"/>
              <a:t>↓</a:t>
            </a:r>
          </a:p>
          <a:p>
            <a:r>
              <a:rPr lang="es-MX" b="1" dirty="0"/>
              <a:t>1980</a:t>
            </a:r>
          </a:p>
          <a:p>
            <a:r>
              <a:rPr lang="es-MX" dirty="0"/>
              <a:t>Gran crecimiento comercial.</a:t>
            </a:r>
          </a:p>
          <a:p>
            <a:r>
              <a:rPr lang="es-MX" dirty="0"/>
              <a:t>↓</a:t>
            </a:r>
          </a:p>
          <a:p>
            <a:r>
              <a:rPr lang="es-MX" b="1" dirty="0"/>
              <a:t>1990</a:t>
            </a:r>
          </a:p>
          <a:p>
            <a:r>
              <a:rPr lang="es-MX" dirty="0"/>
              <a:t>Disminuye su uso por limitaciones tecnológicas.</a:t>
            </a:r>
          </a:p>
          <a:p>
            <a:r>
              <a:rPr lang="es-MX" dirty="0"/>
              <a:t>↓</a:t>
            </a:r>
          </a:p>
          <a:p>
            <a:r>
              <a:rPr lang="es-MX" b="1" dirty="0"/>
              <a:t>2000</a:t>
            </a:r>
          </a:p>
          <a:p>
            <a:r>
              <a:rPr lang="es-MX" dirty="0"/>
              <a:t>Integración con minería de datos.</a:t>
            </a:r>
          </a:p>
          <a:p>
            <a:r>
              <a:rPr lang="es-MX" dirty="0"/>
              <a:t>↓</a:t>
            </a:r>
          </a:p>
          <a:p>
            <a:r>
              <a:rPr lang="es-MX" b="1" dirty="0"/>
              <a:t>Actualidad</a:t>
            </a:r>
          </a:p>
          <a:p>
            <a:r>
              <a:rPr lang="es-MX" dirty="0"/>
              <a:t>Integración con Inteligencia Artificial, Machine </a:t>
            </a:r>
            <a:r>
              <a:rPr lang="es-MX" dirty="0" err="1"/>
              <a:t>Learning</a:t>
            </a:r>
            <a:r>
              <a:rPr lang="es-MX" dirty="0"/>
              <a:t> y Deep </a:t>
            </a:r>
            <a:r>
              <a:rPr lang="es-MX" dirty="0" err="1"/>
              <a:t>Learning</a:t>
            </a:r>
            <a:r>
              <a:rPr lang="es-MX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cxnSp>
        <p:nvCxnSpPr>
          <p:cNvPr id="172" name="Google Shape;172;p39">
            <a:extLst>
              <a:ext uri="{FF2B5EF4-FFF2-40B4-BE49-F238E27FC236}">
                <a16:creationId xmlns:a16="http://schemas.microsoft.com/office/drawing/2014/main" id="{F9926B82-D08D-7A84-0E80-50E6A3A20208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1600064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F1980786-F555-A1B1-7499-92C8B6528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DF684311-6FFC-2F07-3E18-76B706D6FD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dirty="0"/>
              <a:t>Tipos de Sistemas Expertos</a:t>
            </a:r>
            <a:endParaRPr lang="es-MX" b="1" dirty="0"/>
          </a:p>
        </p:txBody>
      </p:sp>
      <p:sp>
        <p:nvSpPr>
          <p:cNvPr id="171" name="Google Shape;171;p39">
            <a:extLst>
              <a:ext uri="{FF2B5EF4-FFF2-40B4-BE49-F238E27FC236}">
                <a16:creationId xmlns:a16="http://schemas.microsoft.com/office/drawing/2014/main" id="{72661C9A-8D98-9643-0655-2C6275BD09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38500" y="1291550"/>
            <a:ext cx="7172100" cy="39748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5575" indent="0">
              <a:buNone/>
            </a:pPr>
            <a:r>
              <a:rPr lang="es-MX" b="1" dirty="0"/>
              <a:t>Basados en reglas</a:t>
            </a:r>
          </a:p>
          <a:p>
            <a:r>
              <a:rPr lang="es-MX" dirty="0"/>
              <a:t>Utilizan reglas SI...ENTONCES.</a:t>
            </a:r>
          </a:p>
          <a:p>
            <a:br>
              <a:rPr lang="es-MX" dirty="0"/>
            </a:br>
            <a:endParaRPr lang="es-MX" dirty="0"/>
          </a:p>
          <a:p>
            <a:pPr marL="155575" indent="0">
              <a:buNone/>
            </a:pPr>
            <a:r>
              <a:rPr lang="es-MX" b="1" dirty="0"/>
              <a:t>Basados en casos</a:t>
            </a:r>
          </a:p>
          <a:p>
            <a:r>
              <a:rPr lang="es-MX" dirty="0"/>
              <a:t>Comparan problemas anteriores.</a:t>
            </a:r>
          </a:p>
          <a:p>
            <a:br>
              <a:rPr lang="es-MX" dirty="0"/>
            </a:br>
            <a:endParaRPr lang="es-MX" dirty="0"/>
          </a:p>
          <a:p>
            <a:pPr marL="155575" indent="0">
              <a:buNone/>
            </a:pPr>
            <a:r>
              <a:rPr lang="es-MX" b="1" dirty="0"/>
              <a:t>Basados en lógica difusa</a:t>
            </a:r>
          </a:p>
          <a:p>
            <a:r>
              <a:rPr lang="es-MX" dirty="0"/>
              <a:t>Trabajan con información imprecisa.</a:t>
            </a:r>
          </a:p>
          <a:p>
            <a:br>
              <a:rPr lang="es-MX" dirty="0"/>
            </a:br>
            <a:endParaRPr lang="es-MX" dirty="0"/>
          </a:p>
          <a:p>
            <a:pPr marL="155575" indent="0">
              <a:buNone/>
            </a:pPr>
            <a:r>
              <a:rPr lang="es-MX" b="1" dirty="0"/>
              <a:t>Basados en redes neuronales</a:t>
            </a:r>
          </a:p>
          <a:p>
            <a:r>
              <a:rPr lang="es-MX" dirty="0"/>
              <a:t>Aprenden mediante entrenamiento.</a:t>
            </a:r>
          </a:p>
          <a:p>
            <a:br>
              <a:rPr lang="es-MX" dirty="0"/>
            </a:br>
            <a:endParaRPr lang="es-MX" dirty="0"/>
          </a:p>
          <a:p>
            <a:pPr marL="155575" indent="0">
              <a:buNone/>
            </a:pPr>
            <a:r>
              <a:rPr lang="es-MX" b="1" dirty="0"/>
              <a:t>Híbridos</a:t>
            </a:r>
          </a:p>
          <a:p>
            <a:r>
              <a:rPr lang="es-MX" dirty="0"/>
              <a:t>Combinan varias técnicas de IA.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cxnSp>
        <p:nvCxnSpPr>
          <p:cNvPr id="172" name="Google Shape;172;p39">
            <a:extLst>
              <a:ext uri="{FF2B5EF4-FFF2-40B4-BE49-F238E27FC236}">
                <a16:creationId xmlns:a16="http://schemas.microsoft.com/office/drawing/2014/main" id="{5685654F-6166-A9A0-34CA-A4D9550C95ED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1103350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F892A6C3-CD79-2FED-2DA7-613DE67FE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909CC0B0-CEB8-85F1-96D6-D2C6A9423D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dirty="0"/>
              <a:t>Aplicaciones</a:t>
            </a:r>
            <a:endParaRPr lang="es-MX" b="1" dirty="0"/>
          </a:p>
        </p:txBody>
      </p:sp>
      <p:sp>
        <p:nvSpPr>
          <p:cNvPr id="171" name="Google Shape;171;p39">
            <a:extLst>
              <a:ext uri="{FF2B5EF4-FFF2-40B4-BE49-F238E27FC236}">
                <a16:creationId xmlns:a16="http://schemas.microsoft.com/office/drawing/2014/main" id="{F55BD9B4-C186-8F89-DAB1-AF9ED0B41D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38500" y="1291550"/>
            <a:ext cx="7172100" cy="35692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dirty="0"/>
              <a:t>Los Sistemas Expertos se utilizan en:</a:t>
            </a:r>
          </a:p>
          <a:p>
            <a:endParaRPr lang="es-MX" dirty="0"/>
          </a:p>
          <a:p>
            <a:pPr marL="155575" indent="0">
              <a:buNone/>
            </a:pPr>
            <a:r>
              <a:rPr lang="es-MX" dirty="0"/>
              <a:t>🏥 Medicina</a:t>
            </a:r>
          </a:p>
          <a:p>
            <a:pPr marL="155575" indent="0">
              <a:buNone/>
            </a:pPr>
            <a:r>
              <a:rPr lang="es-MX" dirty="0"/>
              <a:t>Diagnósticos </a:t>
            </a:r>
          </a:p>
          <a:p>
            <a:pPr marL="155575" indent="0">
              <a:buNone/>
            </a:pPr>
            <a:endParaRPr lang="es-MX" dirty="0"/>
          </a:p>
          <a:p>
            <a:pPr marL="155575" indent="0">
              <a:buNone/>
            </a:pPr>
            <a:r>
              <a:rPr lang="es-MX" dirty="0"/>
              <a:t>💰 Finanzas</a:t>
            </a:r>
          </a:p>
          <a:p>
            <a:pPr marL="155575" indent="0">
              <a:buNone/>
            </a:pPr>
            <a:r>
              <a:rPr lang="es-MX" dirty="0"/>
              <a:t>Evaluación de riesgos </a:t>
            </a:r>
          </a:p>
          <a:p>
            <a:pPr marL="155575" indent="0">
              <a:buNone/>
            </a:pPr>
            <a:endParaRPr lang="es-MX" dirty="0"/>
          </a:p>
          <a:p>
            <a:pPr marL="155575" indent="0">
              <a:buNone/>
            </a:pPr>
            <a:r>
              <a:rPr lang="es-MX" dirty="0"/>
              <a:t>🏭 Industria</a:t>
            </a:r>
          </a:p>
          <a:p>
            <a:pPr marL="155575" indent="0">
              <a:buNone/>
            </a:pPr>
            <a:r>
              <a:rPr lang="es-MX" dirty="0"/>
              <a:t>Control de procesos </a:t>
            </a:r>
          </a:p>
          <a:p>
            <a:pPr marL="155575" indent="0">
              <a:buNone/>
            </a:pPr>
            <a:endParaRPr lang="es-MX" dirty="0"/>
          </a:p>
          <a:p>
            <a:pPr marL="155575" indent="0">
              <a:buNone/>
            </a:pPr>
            <a:r>
              <a:rPr lang="es-MX" dirty="0"/>
              <a:t>⚖ Derecho</a:t>
            </a:r>
          </a:p>
          <a:p>
            <a:pPr marL="155575" indent="0">
              <a:buNone/>
            </a:pPr>
            <a:r>
              <a:rPr lang="es-MX" dirty="0"/>
              <a:t>Asesoría legal </a:t>
            </a:r>
          </a:p>
          <a:p>
            <a:pPr marL="155575" indent="0">
              <a:buNone/>
            </a:pPr>
            <a:endParaRPr lang="es-MX" dirty="0"/>
          </a:p>
          <a:p>
            <a:pPr marL="155575" indent="0">
              <a:buNone/>
            </a:pPr>
            <a:r>
              <a:rPr lang="es-MX" dirty="0"/>
              <a:t>🚗 Ingeniería</a:t>
            </a:r>
          </a:p>
          <a:p>
            <a:pPr marL="155575" indent="0">
              <a:buNone/>
            </a:pPr>
            <a:r>
              <a:rPr lang="es-MX" dirty="0"/>
              <a:t>Mantenimiento </a:t>
            </a:r>
          </a:p>
          <a:p>
            <a:pPr marL="155575" indent="0">
              <a:buNone/>
            </a:pPr>
            <a:endParaRPr lang="es-MX" dirty="0"/>
          </a:p>
          <a:p>
            <a:pPr marL="155575" indent="0">
              <a:buNone/>
            </a:pPr>
            <a:r>
              <a:rPr lang="es-MX" dirty="0"/>
              <a:t>🎓 Educación</a:t>
            </a:r>
          </a:p>
          <a:p>
            <a:pPr marL="155575" indent="0">
              <a:buNone/>
            </a:pPr>
            <a:r>
              <a:rPr lang="es-MX" dirty="0"/>
              <a:t>Tutorías inteligentes 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cxnSp>
        <p:nvCxnSpPr>
          <p:cNvPr id="172" name="Google Shape;172;p39">
            <a:extLst>
              <a:ext uri="{FF2B5EF4-FFF2-40B4-BE49-F238E27FC236}">
                <a16:creationId xmlns:a16="http://schemas.microsoft.com/office/drawing/2014/main" id="{71B77848-6A33-F91E-44B7-3714E8590345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282967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E23F67D5-6BFD-1EFB-EF05-CD91477DA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0F430E9B-47EE-4BFE-3F54-8E4B0A33D0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dirty="0"/>
              <a:t>Ventajas y Desventajas</a:t>
            </a:r>
            <a:endParaRPr lang="es-MX" b="1" dirty="0"/>
          </a:p>
        </p:txBody>
      </p:sp>
      <p:sp>
        <p:nvSpPr>
          <p:cNvPr id="171" name="Google Shape;171;p39">
            <a:extLst>
              <a:ext uri="{FF2B5EF4-FFF2-40B4-BE49-F238E27FC236}">
                <a16:creationId xmlns:a16="http://schemas.microsoft.com/office/drawing/2014/main" id="{28B24E46-8E54-E167-C17D-25237C44A4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38500" y="1291550"/>
            <a:ext cx="7172100" cy="35692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dirty="0"/>
              <a:t>✅ Disponibles las 24 horas</a:t>
            </a:r>
          </a:p>
          <a:p>
            <a:r>
              <a:rPr lang="es-MX" dirty="0"/>
              <a:t>✅ No olvidan información</a:t>
            </a:r>
          </a:p>
          <a:p>
            <a:r>
              <a:rPr lang="es-MX" dirty="0"/>
              <a:t>✅ Respuestas rápidas</a:t>
            </a:r>
          </a:p>
          <a:p>
            <a:r>
              <a:rPr lang="es-MX" dirty="0"/>
              <a:t>✅ Reducen errores</a:t>
            </a:r>
          </a:p>
          <a:p>
            <a:r>
              <a:rPr lang="es-MX" dirty="0"/>
              <a:t>✅ Conservan conocimiento experto</a:t>
            </a:r>
          </a:p>
          <a:p>
            <a:pPr marL="155575" indent="0">
              <a:buNone/>
            </a:pPr>
            <a:br>
              <a:rPr lang="es-MX" dirty="0"/>
            </a:br>
            <a:endParaRPr lang="es-MX" dirty="0"/>
          </a:p>
          <a:p>
            <a:r>
              <a:rPr lang="es-MX" b="1" dirty="0"/>
              <a:t>Desventajas</a:t>
            </a:r>
          </a:p>
          <a:p>
            <a:r>
              <a:rPr lang="es-MX" dirty="0"/>
              <a:t>❌ Alto costo de desarrollo</a:t>
            </a:r>
          </a:p>
          <a:p>
            <a:r>
              <a:rPr lang="es-MX" dirty="0"/>
              <a:t>❌ Difícil actualización</a:t>
            </a:r>
          </a:p>
          <a:p>
            <a:r>
              <a:rPr lang="es-MX" dirty="0"/>
              <a:t>❌ No poseen creatividad</a:t>
            </a:r>
          </a:p>
          <a:p>
            <a:r>
              <a:rPr lang="es-MX" dirty="0"/>
              <a:t>❌ Dependen del conocimiento almacenado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cxnSp>
        <p:nvCxnSpPr>
          <p:cNvPr id="172" name="Google Shape;172;p39">
            <a:extLst>
              <a:ext uri="{FF2B5EF4-FFF2-40B4-BE49-F238E27FC236}">
                <a16:creationId xmlns:a16="http://schemas.microsoft.com/office/drawing/2014/main" id="{F6BBE572-B7FB-00BA-69AB-5F7B3E9A77E0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393388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FB81620B-D8F1-EB1D-6114-1512C9455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B66AF982-640E-FCEB-F34E-E1AA678DEB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b="1" dirty="0"/>
              <a:t>Ejemplos Reales</a:t>
            </a:r>
            <a:br>
              <a:rPr lang="es-MX" b="1" dirty="0"/>
            </a:br>
            <a:endParaRPr lang="es-MX" b="1" dirty="0"/>
          </a:p>
        </p:txBody>
      </p:sp>
      <p:sp>
        <p:nvSpPr>
          <p:cNvPr id="171" name="Google Shape;171;p39">
            <a:extLst>
              <a:ext uri="{FF2B5EF4-FFF2-40B4-BE49-F238E27FC236}">
                <a16:creationId xmlns:a16="http://schemas.microsoft.com/office/drawing/2014/main" id="{905DB4D4-9063-F0DD-E8B7-A794553C7B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38500" y="1057793"/>
            <a:ext cx="7172100" cy="35692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5575" indent="0">
              <a:buNone/>
            </a:pPr>
            <a:endParaRPr lang="es-MX" b="1" dirty="0"/>
          </a:p>
          <a:p>
            <a:r>
              <a:rPr lang="es-MX" b="1" dirty="0"/>
              <a:t>MYCIN</a:t>
            </a:r>
          </a:p>
          <a:p>
            <a:r>
              <a:rPr lang="es-MX" dirty="0"/>
              <a:t>Diagnóstico de enfermedades infecciosas.</a:t>
            </a:r>
          </a:p>
          <a:p>
            <a:br>
              <a:rPr lang="es-MX" dirty="0"/>
            </a:br>
            <a:endParaRPr lang="es-MX" dirty="0"/>
          </a:p>
          <a:p>
            <a:r>
              <a:rPr lang="es-MX" b="1" dirty="0"/>
              <a:t>DENDRAL</a:t>
            </a:r>
          </a:p>
          <a:p>
            <a:r>
              <a:rPr lang="es-MX" dirty="0"/>
              <a:t>Identificación de moléculas químicas.</a:t>
            </a:r>
          </a:p>
          <a:p>
            <a:br>
              <a:rPr lang="es-MX" dirty="0"/>
            </a:br>
            <a:endParaRPr lang="es-MX" dirty="0"/>
          </a:p>
          <a:p>
            <a:r>
              <a:rPr lang="es-MX" b="1" dirty="0"/>
              <a:t>XCON</a:t>
            </a:r>
          </a:p>
          <a:p>
            <a:r>
              <a:rPr lang="es-MX" dirty="0"/>
              <a:t>Configuración automática de computadoras DEC.</a:t>
            </a:r>
          </a:p>
          <a:p>
            <a:br>
              <a:rPr lang="es-MX" dirty="0"/>
            </a:br>
            <a:endParaRPr lang="es-MX" dirty="0"/>
          </a:p>
          <a:p>
            <a:r>
              <a:rPr lang="es-MX" b="1" dirty="0"/>
              <a:t>PROSPECTOR</a:t>
            </a:r>
          </a:p>
          <a:p>
            <a:r>
              <a:rPr lang="es-MX" dirty="0"/>
              <a:t>Exploración minera.</a:t>
            </a:r>
          </a:p>
          <a:p>
            <a:br>
              <a:rPr lang="es-MX" dirty="0"/>
            </a:br>
            <a:endParaRPr lang="es-MX" dirty="0"/>
          </a:p>
          <a:p>
            <a:r>
              <a:rPr lang="es-MX" b="1" dirty="0"/>
              <a:t>IBM Watson</a:t>
            </a:r>
          </a:p>
          <a:p>
            <a:r>
              <a:rPr lang="es-MX" dirty="0"/>
              <a:t>Apoyo al diagnóstico médico mediante IA.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cxnSp>
        <p:nvCxnSpPr>
          <p:cNvPr id="172" name="Google Shape;172;p39">
            <a:extLst>
              <a:ext uri="{FF2B5EF4-FFF2-40B4-BE49-F238E27FC236}">
                <a16:creationId xmlns:a16="http://schemas.microsoft.com/office/drawing/2014/main" id="{D6551D14-17D4-1058-5D7D-88175DC79D74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71993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0019B7FB-8DCD-08D6-6CBE-C1551982C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FBDD50DF-CF71-2FC0-280B-399D6F52F9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dirty="0"/>
              <a:t>Conclusión</a:t>
            </a:r>
            <a:endParaRPr lang="es-MX" b="1" dirty="0"/>
          </a:p>
        </p:txBody>
      </p:sp>
      <p:sp>
        <p:nvSpPr>
          <p:cNvPr id="171" name="Google Shape;171;p39">
            <a:extLst>
              <a:ext uri="{FF2B5EF4-FFF2-40B4-BE49-F238E27FC236}">
                <a16:creationId xmlns:a16="http://schemas.microsoft.com/office/drawing/2014/main" id="{69BB4C00-092C-6F40-49C3-9E07D5A145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38500" y="1291550"/>
            <a:ext cx="7172100" cy="35692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dirty="0"/>
              <a:t>Los Sistemas Expertos representan uno de los primeros grandes avances de la Inteligencia Artificial.</a:t>
            </a:r>
          </a:p>
          <a:p>
            <a:r>
              <a:rPr lang="es-MX" dirty="0"/>
              <a:t>Aunque actualmente muchas aplicaciones utilizan Machine </a:t>
            </a:r>
            <a:r>
              <a:rPr lang="es-MX" dirty="0" err="1"/>
              <a:t>Learning</a:t>
            </a:r>
            <a:r>
              <a:rPr lang="es-MX" dirty="0"/>
              <a:t> y Deep </a:t>
            </a:r>
            <a:r>
              <a:rPr lang="es-MX" dirty="0" err="1"/>
              <a:t>Learning</a:t>
            </a:r>
            <a:r>
              <a:rPr lang="es-MX" dirty="0"/>
              <a:t>, los Sistemas Expertos siguen siendo fundamentales para comprender cómo una computadora puede tomar decisiones utilizando conocimiento especializado y reglas lógicas.</a:t>
            </a:r>
          </a:p>
          <a:p>
            <a:r>
              <a:rPr lang="es-MX" dirty="0"/>
              <a:t>Su legado ha servido como base para el desarrollo de muchas tecnologías inteligentes utilizadas en la actualidad.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cxnSp>
        <p:nvCxnSpPr>
          <p:cNvPr id="172" name="Google Shape;172;p39">
            <a:extLst>
              <a:ext uri="{FF2B5EF4-FFF2-40B4-BE49-F238E27FC236}">
                <a16:creationId xmlns:a16="http://schemas.microsoft.com/office/drawing/2014/main" id="{949C963C-BD2F-B516-8920-3477F94F6E25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2248034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27609938-E285-4908-A3EA-DB7B8A1E3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9245CF47-CFD1-09C2-D745-4E2706D551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dirty="0" err="1"/>
              <a:t>Bibliografia</a:t>
            </a:r>
            <a:endParaRPr lang="es-MX" b="1" dirty="0"/>
          </a:p>
        </p:txBody>
      </p:sp>
      <p:sp>
        <p:nvSpPr>
          <p:cNvPr id="171" name="Google Shape;171;p39">
            <a:extLst>
              <a:ext uri="{FF2B5EF4-FFF2-40B4-BE49-F238E27FC236}">
                <a16:creationId xmlns:a16="http://schemas.microsoft.com/office/drawing/2014/main" id="{68B98421-2BCD-8364-376A-F44E7D2E6A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38500" y="1291550"/>
            <a:ext cx="7172100" cy="35692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5575" indent="0">
              <a:buNone/>
            </a:pPr>
            <a:r>
              <a:rPr lang="es-MX" dirty="0"/>
              <a:t>Russell, S., &amp; Norvig, P. (2021). </a:t>
            </a:r>
            <a:r>
              <a:rPr lang="es-MX" i="1" dirty="0"/>
              <a:t>Artificial </a:t>
            </a:r>
            <a:r>
              <a:rPr lang="es-MX" i="1" dirty="0" err="1"/>
              <a:t>Intelligence</a:t>
            </a:r>
            <a:r>
              <a:rPr lang="es-MX" i="1" dirty="0"/>
              <a:t>: A Modern </a:t>
            </a:r>
            <a:r>
              <a:rPr lang="es-MX" i="1" dirty="0" err="1"/>
              <a:t>Approach</a:t>
            </a:r>
            <a:r>
              <a:rPr lang="es-MX" dirty="0"/>
              <a:t> (4th ed.). Pearson. Giarratano, J., &amp; Riley, G. (2005). </a:t>
            </a:r>
            <a:r>
              <a:rPr lang="es-MX" i="1" dirty="0"/>
              <a:t>Expert </a:t>
            </a:r>
            <a:r>
              <a:rPr lang="es-MX" i="1" dirty="0" err="1"/>
              <a:t>Systems</a:t>
            </a:r>
            <a:r>
              <a:rPr lang="es-MX" i="1" dirty="0"/>
              <a:t>: </a:t>
            </a:r>
            <a:r>
              <a:rPr lang="es-MX" i="1" dirty="0" err="1"/>
              <a:t>Principles</a:t>
            </a:r>
            <a:r>
              <a:rPr lang="es-MX" i="1" dirty="0"/>
              <a:t> and </a:t>
            </a:r>
            <a:r>
              <a:rPr lang="es-MX" i="1" dirty="0" err="1"/>
              <a:t>Programming</a:t>
            </a:r>
            <a:r>
              <a:rPr lang="es-MX" dirty="0"/>
              <a:t> (4th ed.). Thomson. Jackson, P. (1999). </a:t>
            </a:r>
            <a:r>
              <a:rPr lang="es-MX" i="1" dirty="0" err="1"/>
              <a:t>Introduction</a:t>
            </a:r>
            <a:r>
              <a:rPr lang="es-MX" i="1" dirty="0"/>
              <a:t> </a:t>
            </a:r>
            <a:r>
              <a:rPr lang="es-MX" i="1" dirty="0" err="1"/>
              <a:t>to</a:t>
            </a:r>
            <a:r>
              <a:rPr lang="es-MX" i="1" dirty="0"/>
              <a:t> Expert </a:t>
            </a:r>
            <a:r>
              <a:rPr lang="es-MX" i="1" dirty="0" err="1"/>
              <a:t>Systems</a:t>
            </a:r>
            <a:r>
              <a:rPr lang="es-MX" dirty="0"/>
              <a:t> (3rd ed.). Addison-Wesley. Durkin, J. (1994). </a:t>
            </a:r>
            <a:r>
              <a:rPr lang="es-MX" i="1" dirty="0"/>
              <a:t>Expert </a:t>
            </a:r>
            <a:r>
              <a:rPr lang="es-MX" i="1" dirty="0" err="1"/>
              <a:t>Systems</a:t>
            </a:r>
            <a:r>
              <a:rPr lang="es-MX" i="1" dirty="0"/>
              <a:t>: </a:t>
            </a:r>
            <a:r>
              <a:rPr lang="es-MX" i="1" dirty="0" err="1"/>
              <a:t>Design</a:t>
            </a:r>
            <a:r>
              <a:rPr lang="es-MX" i="1" dirty="0"/>
              <a:t> and </a:t>
            </a:r>
            <a:r>
              <a:rPr lang="es-MX" i="1" dirty="0" err="1"/>
              <a:t>Development</a:t>
            </a:r>
            <a:r>
              <a:rPr lang="es-MX" dirty="0"/>
              <a:t>. Prentice Hall.</a:t>
            </a:r>
            <a:endParaRPr dirty="0"/>
          </a:p>
        </p:txBody>
      </p:sp>
      <p:cxnSp>
        <p:nvCxnSpPr>
          <p:cNvPr id="172" name="Google Shape;172;p39">
            <a:extLst>
              <a:ext uri="{FF2B5EF4-FFF2-40B4-BE49-F238E27FC236}">
                <a16:creationId xmlns:a16="http://schemas.microsoft.com/office/drawing/2014/main" id="{0850BA96-79A4-3D18-2796-9A15DF1B7541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1207967624"/>
      </p:ext>
    </p:extLst>
  </p:cSld>
  <p:clrMapOvr>
    <a:masterClrMapping/>
  </p:clrMapOvr>
</p:sld>
</file>

<file path=ppt/theme/theme1.xml><?xml version="1.0" encoding="utf-8"?>
<a:theme xmlns:a="http://schemas.openxmlformats.org/drawingml/2006/main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647</Words>
  <Application>Microsoft Office PowerPoint</Application>
  <PresentationFormat>Presentación en pantalla (16:9)</PresentationFormat>
  <Paragraphs>166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Montserrat ExtraBold</vt:lpstr>
      <vt:lpstr>Montserrat</vt:lpstr>
      <vt:lpstr>Montserrat ExtraLight</vt:lpstr>
      <vt:lpstr>Futuristic Background by Slidesgo</vt:lpstr>
      <vt:lpstr>SISTEMAS</vt:lpstr>
      <vt:lpstr>¿Qué es un Sistema Experto?</vt:lpstr>
      <vt:lpstr>¿Qué es el conocimiento?</vt:lpstr>
      <vt:lpstr>Motor de Inferencia</vt:lpstr>
      <vt:lpstr>Funcionamiento de un Sistema Experto</vt:lpstr>
      <vt:lpstr>Funcionamiento de un Sistema Experto</vt:lpstr>
      <vt:lpstr>Línea del Tiempo</vt:lpstr>
      <vt:lpstr>Tipos de Sistemas Expertos</vt:lpstr>
      <vt:lpstr>Aplicaciones</vt:lpstr>
      <vt:lpstr>Ventajas y Desventajas</vt:lpstr>
      <vt:lpstr>Ejemplos Reales </vt:lpstr>
      <vt:lpstr>Conclusión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BRIAN JESHUA CELIS PIMIENTA</cp:lastModifiedBy>
  <cp:revision>17</cp:revision>
  <dcterms:modified xsi:type="dcterms:W3CDTF">2026-06-28T03:02:47Z</dcterms:modified>
</cp:coreProperties>
</file>